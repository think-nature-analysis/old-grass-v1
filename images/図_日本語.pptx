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35" autoAdjust="0"/>
    <p:restoredTop sz="94660"/>
  </p:normalViewPr>
  <p:slideViewPr>
    <p:cSldViewPr snapToGrid="0">
      <p:cViewPr varScale="1">
        <p:scale>
          <a:sx n="90" d="100"/>
          <a:sy n="90" d="100"/>
        </p:scale>
        <p:origin x="82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EA2950-13BD-4F90-9324-F525E1954A5D}" type="datetimeFigureOut">
              <a:rPr kumimoji="1" lang="ja-JP" altLang="en-US" smtClean="0"/>
              <a:t>2026/7/18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1210E3-7BB0-4B49-839A-6D52947704E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3851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1210E3-7BB0-4B49-839A-6D52947704E5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97762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1210E3-7BB0-4B49-839A-6D52947704E5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72190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C5B021-D3B2-04BD-73EA-81C2B529D7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19EB4C8-9C93-BF1D-3BEA-982F68BBA1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EF465D3-DEAD-E1D4-987F-F967489E7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31FD-358D-4B0D-88AA-8DD40827D4C8}" type="datetimeFigureOut">
              <a:rPr kumimoji="1" lang="ja-JP" altLang="en-US" smtClean="0"/>
              <a:t>2026/7/18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7CB5ED5-E314-2473-AA5E-CA5198CD7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E2BF6DC-B952-7F84-AF6C-E16C51535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DFA62-317F-466D-8B32-836C369E99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4410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A1166D-97BB-DCC0-715F-E42C66537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8F4A5D0-19E1-AFB7-3D11-0225B873BB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62F620D-4A90-F13F-6C76-F6FC4AE71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31FD-358D-4B0D-88AA-8DD40827D4C8}" type="datetimeFigureOut">
              <a:rPr kumimoji="1" lang="ja-JP" altLang="en-US" smtClean="0"/>
              <a:t>2026/7/18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E79B2B5-5373-41EE-5814-EEF80F041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8B7CE17-2CD6-20D2-B4FC-0B804DB52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DFA62-317F-466D-8B32-836C369E99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6215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8DC298-CDD7-5218-AD7D-B826045B9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E4DD16A-2EED-92CE-551F-2CA5B38696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ECC16B5-2722-A702-0A2E-13503B028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31FD-358D-4B0D-88AA-8DD40827D4C8}" type="datetimeFigureOut">
              <a:rPr kumimoji="1" lang="ja-JP" altLang="en-US" smtClean="0"/>
              <a:t>2026/7/18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4B8ACD0-5722-69CF-61E6-D4C8DC594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EBF85FB-4CC1-6310-3C38-0707F6B0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DFA62-317F-466D-8B32-836C369E99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246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7EB8F6-EA58-38DF-A4FA-E6AACB878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1043B46-D95C-37CE-B0FA-F883420026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18BA8BD-93DA-31C3-BB68-3BA1A7257A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88572A2-2EF6-3249-1CC3-376BC8233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31FD-358D-4B0D-88AA-8DD40827D4C8}" type="datetimeFigureOut">
              <a:rPr kumimoji="1" lang="ja-JP" altLang="en-US" smtClean="0"/>
              <a:t>2026/7/18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663CBC5-3ADA-43CA-0FC7-CA66A536A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D24CD4C-D20B-DBBE-330B-64DB71320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DFA62-317F-466D-8B32-836C369E99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0363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CF361E-2A1B-9437-E1D3-CD02372AA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4909A11-0EBD-87A5-E36E-D686EC314A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EC26AC1-6358-5F51-A599-0BADB89749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78F380F-9803-0F5B-0052-6AD9F6C04D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B744EB6-DD7B-EA1D-F0E1-4B4DF78B05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9818681-48B4-4019-1CA5-8D86671BE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31FD-358D-4B0D-88AA-8DD40827D4C8}" type="datetimeFigureOut">
              <a:rPr kumimoji="1" lang="ja-JP" altLang="en-US" smtClean="0"/>
              <a:t>2026/7/18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46E1E01-A06D-2CA8-8B38-842F4240B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9AC13D7-7F2B-22EC-5EA5-3A256F6BC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DFA62-317F-466D-8B32-836C369E99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5726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D838D-B11B-44F9-A3F9-EEBE5871D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AFE51E3-41B5-B0F8-E9F2-383593591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31FD-358D-4B0D-88AA-8DD40827D4C8}" type="datetimeFigureOut">
              <a:rPr kumimoji="1" lang="ja-JP" altLang="en-US" smtClean="0"/>
              <a:t>2026/7/18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C4E6DEA-8B6F-3D5E-9CB0-85B165443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D6A7D9C-8ED0-6EFD-2B03-D545A2D42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DFA62-317F-466D-8B32-836C369E99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6552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0D99448-A37D-CA53-3598-48219EE0B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31FD-358D-4B0D-88AA-8DD40827D4C8}" type="datetimeFigureOut">
              <a:rPr kumimoji="1" lang="ja-JP" altLang="en-US" smtClean="0"/>
              <a:t>2026/7/18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A721A8F-0C33-BBAB-A909-D6BCDCC05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8083EB0-B6BD-84E9-E3ED-612280C11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DFA62-317F-466D-8B32-836C369E99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4846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31196E-4457-E883-EBAC-F213AE376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A3438E7-2950-DC81-6069-B7FBDBBE0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7732E70-8322-4CE7-98EE-8B668165B5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E835BF9-2D42-3408-635C-B77C3418F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31FD-358D-4B0D-88AA-8DD40827D4C8}" type="datetimeFigureOut">
              <a:rPr kumimoji="1" lang="ja-JP" altLang="en-US" smtClean="0"/>
              <a:t>2026/7/18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2B9F123-946B-E98A-7B71-2544458CB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20DBD3B-7E9C-FED1-8AF8-DB600C084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DFA62-317F-466D-8B32-836C369E99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9895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C6E7BC1-9830-A2C9-D856-587A90074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B8CE695-763C-6D7D-0674-F406BD8CCD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502B49D-74D4-5E39-F9BB-1FD4502F6C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BCB7272-8BBF-1C33-3168-DB3E7DD40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31FD-358D-4B0D-88AA-8DD40827D4C8}" type="datetimeFigureOut">
              <a:rPr kumimoji="1" lang="ja-JP" altLang="en-US" smtClean="0"/>
              <a:t>2026/7/18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E2AC183-C8C8-2797-F883-3D3E71393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5B9DB04-1EC8-609E-3348-8D26E450F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DFA62-317F-466D-8B32-836C369E99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7125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C50379-2D9E-16A8-68BE-9AB64222E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8E41C97-A998-ECAA-D1A2-19905DEDE2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2F0C7E7-7ACF-9DD4-4121-2B232F577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31FD-358D-4B0D-88AA-8DD40827D4C8}" type="datetimeFigureOut">
              <a:rPr kumimoji="1" lang="ja-JP" altLang="en-US" smtClean="0"/>
              <a:t>2026/7/18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69F144C-FBA3-406A-5073-A71666689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C6138D1-E0D7-1D3B-00F1-B309154A7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DFA62-317F-466D-8B32-836C369E99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5987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7766F79-E836-6DD7-FC54-CDADDF8D52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C03F78F-B6F4-7B33-F361-8D3D2B2D09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74258BB-050A-E7F8-77F3-F6B71F21B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31FD-358D-4B0D-88AA-8DD40827D4C8}" type="datetimeFigureOut">
              <a:rPr kumimoji="1" lang="ja-JP" altLang="en-US" smtClean="0"/>
              <a:t>2026/7/18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EDF258-79AC-86EF-5DB0-E592A4A3C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0A80CB9-9E68-9F32-50C8-B28247863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DFA62-317F-466D-8B32-836C369E99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7160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975E042-D3CD-9B7A-9D85-2DEC63DA2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23DB62B-78B5-CFA3-D197-63768D1C3B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4368113-1365-43E1-7D7C-D52153D35A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5131FD-358D-4B0D-88AA-8DD40827D4C8}" type="datetimeFigureOut">
              <a:rPr kumimoji="1" lang="ja-JP" altLang="en-US" smtClean="0"/>
              <a:t>2026/7/18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BD4F026-CDF5-1F3E-AA56-C4AF3A5347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2F53387-24E4-2679-DF67-53748244B3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4DFA62-317F-466D-8B32-836C369E99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1187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CA0CE0D6-A490-4E52-1897-DB294DBC4A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482" y="72861"/>
            <a:ext cx="10297036" cy="6712278"/>
          </a:xfrm>
          <a:prstGeom prst="rect">
            <a:avLst/>
          </a:prstGeom>
        </p:spPr>
      </p:pic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A262B325-9A03-F735-CAB0-756283070B49}"/>
              </a:ext>
            </a:extLst>
          </p:cNvPr>
          <p:cNvSpPr/>
          <p:nvPr/>
        </p:nvSpPr>
        <p:spPr>
          <a:xfrm>
            <a:off x="7893909" y="1341120"/>
            <a:ext cx="1349151" cy="5436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秋吉台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44AAA0B5-268F-E710-8659-7818E53FBBE3}"/>
              </a:ext>
            </a:extLst>
          </p:cNvPr>
          <p:cNvSpPr/>
          <p:nvPr/>
        </p:nvSpPr>
        <p:spPr>
          <a:xfrm>
            <a:off x="7678009" y="2385060"/>
            <a:ext cx="1349151" cy="5436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平尾台</a:t>
            </a:r>
            <a:endParaRPr kumimoji="1" lang="ja-JP" altLang="en-US" dirty="0">
              <a:solidFill>
                <a:schemeClr val="tx1"/>
              </a:solidFill>
              <a:latin typeface="MS UI Gothic" panose="020B0600070205080204" pitchFamily="50" charset="-128"/>
              <a:ea typeface="MS UI Gothic" panose="020B0600070205080204" pitchFamily="50" charset="-128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55FE9926-ACC2-B5C8-3EC6-5F9E3FFE1010}"/>
              </a:ext>
            </a:extLst>
          </p:cNvPr>
          <p:cNvSpPr/>
          <p:nvPr/>
        </p:nvSpPr>
        <p:spPr>
          <a:xfrm>
            <a:off x="8044246" y="2949807"/>
            <a:ext cx="2491834" cy="5436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くじゅう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999DB1BB-FF09-C4F5-9CA6-71B17BB0831E}"/>
              </a:ext>
            </a:extLst>
          </p:cNvPr>
          <p:cNvSpPr/>
          <p:nvPr/>
        </p:nvSpPr>
        <p:spPr>
          <a:xfrm>
            <a:off x="7534149" y="4277136"/>
            <a:ext cx="2491834" cy="5436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阿蘇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878B9F72-DE4F-9176-D7DC-4838FB0F05B5}"/>
              </a:ext>
            </a:extLst>
          </p:cNvPr>
          <p:cNvSpPr/>
          <p:nvPr/>
        </p:nvSpPr>
        <p:spPr>
          <a:xfrm>
            <a:off x="3855312" y="800099"/>
            <a:ext cx="1150078" cy="1984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2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石灰岩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981F8341-1B4E-7BEF-E172-59AC3638CC65}"/>
              </a:ext>
            </a:extLst>
          </p:cNvPr>
          <p:cNvSpPr/>
          <p:nvPr/>
        </p:nvSpPr>
        <p:spPr>
          <a:xfrm>
            <a:off x="3860009" y="1005679"/>
            <a:ext cx="1102516" cy="1984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2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火山砕屑土</a:t>
            </a:r>
            <a:endParaRPr lang="en-US" altLang="ja-JP" sz="1200" dirty="0">
              <a:solidFill>
                <a:schemeClr val="tx1"/>
              </a:solidFill>
              <a:latin typeface="MS UI Gothic" panose="020B0600070205080204" pitchFamily="50" charset="-128"/>
              <a:ea typeface="MS UI Gothic" panose="020B0600070205080204" pitchFamily="50" charset="-128"/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33105414-B64F-4555-FF81-42E0A9F7D13F}"/>
              </a:ext>
            </a:extLst>
          </p:cNvPr>
          <p:cNvSpPr/>
          <p:nvPr/>
        </p:nvSpPr>
        <p:spPr>
          <a:xfrm>
            <a:off x="3716607" y="6088380"/>
            <a:ext cx="3322367" cy="429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半</a:t>
            </a:r>
            <a:r>
              <a:rPr kumimoji="1" lang="ja-JP" altLang="en-US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自然草原</a:t>
            </a:r>
          </a:p>
        </p:txBody>
      </p:sp>
    </p:spTree>
    <p:extLst>
      <p:ext uri="{BB962C8B-B14F-4D97-AF65-F5344CB8AC3E}">
        <p14:creationId xmlns:p14="http://schemas.microsoft.com/office/powerpoint/2010/main" val="2478404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EC9431B2-628C-5E9E-1AF1-8D42196111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723" y="749576"/>
            <a:ext cx="10266554" cy="5358848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3F91159-8652-F4F3-A27F-C1C736F6C8C3}"/>
              </a:ext>
            </a:extLst>
          </p:cNvPr>
          <p:cNvSpPr/>
          <p:nvPr/>
        </p:nvSpPr>
        <p:spPr>
          <a:xfrm>
            <a:off x="10044113" y="2805112"/>
            <a:ext cx="1021556" cy="1731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面積 </a:t>
            </a:r>
            <a:r>
              <a:rPr lang="en-US" altLang="ja-JP" sz="12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(ha)</a:t>
            </a:r>
            <a:endParaRPr kumimoji="1" lang="ja-JP" altLang="en-US" sz="1200" dirty="0">
              <a:solidFill>
                <a:schemeClr val="tx1"/>
              </a:solidFill>
              <a:latin typeface="MS UI Gothic" panose="020B0600070205080204" pitchFamily="50" charset="-128"/>
              <a:ea typeface="MS UI Gothic" panose="020B0600070205080204" pitchFamily="50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DFFEC50-6E1C-FB5A-43F7-A8CD4F58170F}"/>
              </a:ext>
            </a:extLst>
          </p:cNvPr>
          <p:cNvSpPr/>
          <p:nvPr/>
        </p:nvSpPr>
        <p:spPr>
          <a:xfrm>
            <a:off x="1368427" y="1379537"/>
            <a:ext cx="1274762" cy="1731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00" b="1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1</a:t>
            </a:r>
            <a:r>
              <a:rPr lang="ja-JP" altLang="en-US" sz="1000" b="1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次データソース</a:t>
            </a:r>
            <a:endParaRPr kumimoji="1" lang="ja-JP" altLang="en-US" sz="1000" b="1" dirty="0">
              <a:solidFill>
                <a:schemeClr val="tx1"/>
              </a:solidFill>
              <a:latin typeface="MS UI Gothic" panose="020B0600070205080204" pitchFamily="50" charset="-128"/>
              <a:ea typeface="MS UI Gothic" panose="020B0600070205080204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8CB1C18-16DB-8CDC-2B14-C28D532EC700}"/>
              </a:ext>
            </a:extLst>
          </p:cNvPr>
          <p:cNvSpPr/>
          <p:nvPr/>
        </p:nvSpPr>
        <p:spPr>
          <a:xfrm>
            <a:off x="2984494" y="1379537"/>
            <a:ext cx="1597025" cy="1731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b="1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生成された空間レイヤー</a:t>
            </a:r>
            <a:endParaRPr kumimoji="1" lang="ja-JP" altLang="en-US" sz="1000" b="1" dirty="0">
              <a:solidFill>
                <a:schemeClr val="tx1"/>
              </a:solidFill>
              <a:latin typeface="MS UI Gothic" panose="020B0600070205080204" pitchFamily="50" charset="-128"/>
              <a:ea typeface="MS UI Gothic" panose="020B060007020508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D5B7844-5A8E-6E87-74F2-2E7E42838141}"/>
              </a:ext>
            </a:extLst>
          </p:cNvPr>
          <p:cNvSpPr/>
          <p:nvPr/>
        </p:nvSpPr>
        <p:spPr>
          <a:xfrm>
            <a:off x="1571976" y="1666875"/>
            <a:ext cx="867664" cy="17317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00" b="1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土地利用データ</a:t>
            </a:r>
            <a:r>
              <a:rPr lang="zh-TW" altLang="en-US" sz="700" b="1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（国土交通省）</a:t>
            </a:r>
            <a:endParaRPr kumimoji="1" lang="ja-JP" altLang="en-US" sz="700" b="1" dirty="0">
              <a:solidFill>
                <a:schemeClr val="tx1"/>
              </a:solidFill>
              <a:latin typeface="MS UI Gothic" panose="020B0600070205080204" pitchFamily="50" charset="-128"/>
              <a:ea typeface="MS UI Gothic" panose="020B0600070205080204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AD7426A-763B-F2EE-FE9B-723D85214CC0}"/>
              </a:ext>
            </a:extLst>
          </p:cNvPr>
          <p:cNvSpPr/>
          <p:nvPr/>
        </p:nvSpPr>
        <p:spPr>
          <a:xfrm>
            <a:off x="1571976" y="2022475"/>
            <a:ext cx="867664" cy="17317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700" b="1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ALOS </a:t>
            </a:r>
            <a:r>
              <a:rPr lang="ja-JP" altLang="en-US" sz="700" b="1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土地利用・土地被覆データ</a:t>
            </a:r>
            <a:endParaRPr kumimoji="1" lang="ja-JP" altLang="en-US" sz="700" b="1" dirty="0">
              <a:solidFill>
                <a:schemeClr val="tx1"/>
              </a:solidFill>
              <a:latin typeface="MS UI Gothic" panose="020B0600070205080204" pitchFamily="50" charset="-128"/>
              <a:ea typeface="MS UI Gothic" panose="020B0600070205080204" pitchFamily="50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5A8258E-0191-03DC-0337-60E5383DA1C2}"/>
              </a:ext>
            </a:extLst>
          </p:cNvPr>
          <p:cNvSpPr/>
          <p:nvPr/>
        </p:nvSpPr>
        <p:spPr>
          <a:xfrm>
            <a:off x="1571976" y="2349499"/>
            <a:ext cx="867664" cy="21907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00" b="1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森林被覆</a:t>
            </a:r>
            <a:br>
              <a:rPr lang="en-US" altLang="ja-JP" sz="700" b="1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</a:br>
            <a:r>
              <a:rPr lang="ja-JP" altLang="en-US" sz="700" b="1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データセット</a:t>
            </a:r>
            <a:endParaRPr kumimoji="1" lang="ja-JP" altLang="en-US" sz="700" b="1" dirty="0">
              <a:solidFill>
                <a:schemeClr val="tx1"/>
              </a:solidFill>
              <a:latin typeface="MS UI Gothic" panose="020B0600070205080204" pitchFamily="50" charset="-128"/>
              <a:ea typeface="MS UI Gothic" panose="020B0600070205080204" pitchFamily="50" charset="-128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126ACF7-CD62-11F9-E4B1-91B6E427DB1F}"/>
              </a:ext>
            </a:extLst>
          </p:cNvPr>
          <p:cNvSpPr/>
          <p:nvPr/>
        </p:nvSpPr>
        <p:spPr>
          <a:xfrm>
            <a:off x="1571976" y="2782159"/>
            <a:ext cx="867664" cy="21907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00" b="1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土地利用データ</a:t>
            </a:r>
            <a:br>
              <a:rPr lang="en-US" altLang="ja-JP" sz="700" b="1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</a:br>
            <a:r>
              <a:rPr lang="ja-JP" altLang="en-US" sz="700" b="1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（</a:t>
            </a:r>
            <a:r>
              <a:rPr lang="en-US" altLang="ja-JP" sz="700" b="1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LUIS)</a:t>
            </a:r>
            <a:endParaRPr kumimoji="1" lang="ja-JP" altLang="en-US" sz="700" b="1" dirty="0">
              <a:solidFill>
                <a:schemeClr val="tx1"/>
              </a:solidFill>
              <a:latin typeface="MS UI Gothic" panose="020B0600070205080204" pitchFamily="50" charset="-128"/>
              <a:ea typeface="MS UI Gothic" panose="020B0600070205080204" pitchFamily="50" charset="-128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718557D3-78B2-5D1E-A21E-5BDE2D5F347D}"/>
              </a:ext>
            </a:extLst>
          </p:cNvPr>
          <p:cNvSpPr/>
          <p:nvPr/>
        </p:nvSpPr>
        <p:spPr>
          <a:xfrm>
            <a:off x="1571976" y="3129821"/>
            <a:ext cx="867664" cy="21907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00" b="1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オンラインソース</a:t>
            </a:r>
            <a:endParaRPr kumimoji="1" lang="ja-JP" altLang="en-US" sz="700" b="1" dirty="0">
              <a:solidFill>
                <a:schemeClr val="tx1"/>
              </a:solidFill>
              <a:latin typeface="MS UI Gothic" panose="020B0600070205080204" pitchFamily="50" charset="-128"/>
              <a:ea typeface="MS UI Gothic" panose="020B0600070205080204" pitchFamily="50" charset="-128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88665428-DD85-023C-572E-62BFBCC9B41B}"/>
              </a:ext>
            </a:extLst>
          </p:cNvPr>
          <p:cNvSpPr/>
          <p:nvPr/>
        </p:nvSpPr>
        <p:spPr>
          <a:xfrm>
            <a:off x="2932012" y="2001697"/>
            <a:ext cx="1666177" cy="21907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800" b="1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1976</a:t>
            </a:r>
            <a:r>
              <a:rPr lang="ja-JP" altLang="en-US" sz="800" b="1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年以降も継続している草原</a:t>
            </a:r>
            <a:endParaRPr kumimoji="1" lang="ja-JP" altLang="en-US" sz="800" b="1" dirty="0">
              <a:solidFill>
                <a:schemeClr val="tx1"/>
              </a:solidFill>
              <a:latin typeface="MS UI Gothic" panose="020B0600070205080204" pitchFamily="50" charset="-128"/>
              <a:ea typeface="MS UI Gothic" panose="020B0600070205080204" pitchFamily="50" charset="-128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755F6BFC-AC5F-053E-D5F5-68E63DDF39D4}"/>
              </a:ext>
            </a:extLst>
          </p:cNvPr>
          <p:cNvSpPr/>
          <p:nvPr/>
        </p:nvSpPr>
        <p:spPr>
          <a:xfrm>
            <a:off x="2932012" y="2948847"/>
            <a:ext cx="1666177" cy="21907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800" b="1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1900</a:t>
            </a:r>
            <a:r>
              <a:rPr lang="ja-JP" altLang="en-US" sz="800" b="1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年頃の草原</a:t>
            </a:r>
            <a:endParaRPr kumimoji="1" lang="ja-JP" altLang="en-US" sz="800" b="1" dirty="0">
              <a:solidFill>
                <a:schemeClr val="tx1"/>
              </a:solidFill>
              <a:latin typeface="MS UI Gothic" panose="020B0600070205080204" pitchFamily="50" charset="-128"/>
              <a:ea typeface="MS UI Gothic" panose="020B0600070205080204" pitchFamily="50" charset="-128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1B7E509F-4D33-A6BC-3EA1-CA581671A813}"/>
              </a:ext>
            </a:extLst>
          </p:cNvPr>
          <p:cNvSpPr/>
          <p:nvPr/>
        </p:nvSpPr>
        <p:spPr>
          <a:xfrm>
            <a:off x="2932012" y="3734661"/>
            <a:ext cx="1666177" cy="21907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b="1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100</a:t>
            </a:r>
            <a:r>
              <a:rPr lang="ja-JP" altLang="en-US" sz="800" b="1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年の歴史を持つ草原</a:t>
            </a:r>
            <a:endParaRPr kumimoji="1" lang="ja-JP" altLang="en-US" sz="800" b="1" dirty="0">
              <a:solidFill>
                <a:schemeClr val="tx1"/>
              </a:solidFill>
              <a:latin typeface="MS UI Gothic" panose="020B0600070205080204" pitchFamily="50" charset="-128"/>
              <a:ea typeface="MS UI Gothic" panose="020B0600070205080204" pitchFamily="50" charset="-128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B67842D1-7D96-D80A-AE68-87C7E77F32F3}"/>
              </a:ext>
            </a:extLst>
          </p:cNvPr>
          <p:cNvSpPr/>
          <p:nvPr/>
        </p:nvSpPr>
        <p:spPr>
          <a:xfrm>
            <a:off x="2932012" y="4353783"/>
            <a:ext cx="1666177" cy="21907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800" b="1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非半自然草原</a:t>
            </a:r>
            <a:br>
              <a:rPr kumimoji="1" lang="en-US" altLang="ja-JP" sz="800" b="1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</a:br>
            <a:r>
              <a:rPr kumimoji="1" lang="ja-JP" altLang="en-US" sz="800" b="1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（人工草原や自然草原など）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0F9E9882-CA4F-A195-278C-60EB4B2C3C95}"/>
              </a:ext>
            </a:extLst>
          </p:cNvPr>
          <p:cNvSpPr/>
          <p:nvPr/>
        </p:nvSpPr>
        <p:spPr>
          <a:xfrm>
            <a:off x="1576739" y="4353782"/>
            <a:ext cx="867664" cy="21907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00" b="1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植生図</a:t>
            </a:r>
            <a:endParaRPr kumimoji="1" lang="ja-JP" altLang="en-US" sz="700" b="1" dirty="0">
              <a:solidFill>
                <a:schemeClr val="tx1"/>
              </a:solidFill>
              <a:latin typeface="MS UI Gothic" panose="020B0600070205080204" pitchFamily="50" charset="-128"/>
              <a:ea typeface="MS UI Gothic" panose="020B0600070205080204" pitchFamily="50" charset="-128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275FB09A-078A-DE65-9FA1-CD4FE97B18C8}"/>
              </a:ext>
            </a:extLst>
          </p:cNvPr>
          <p:cNvSpPr/>
          <p:nvPr/>
        </p:nvSpPr>
        <p:spPr>
          <a:xfrm>
            <a:off x="2932012" y="5103400"/>
            <a:ext cx="1666177" cy="33886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b="1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100</a:t>
            </a:r>
            <a:r>
              <a:rPr kumimoji="1" lang="ja-JP" altLang="en-US" sz="800" b="1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年超の半自然草原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D81C6202-0880-B32B-D062-3FAFEC928B62}"/>
              </a:ext>
            </a:extLst>
          </p:cNvPr>
          <p:cNvSpPr/>
          <p:nvPr/>
        </p:nvSpPr>
        <p:spPr>
          <a:xfrm>
            <a:off x="5028306" y="3844198"/>
            <a:ext cx="867664" cy="5095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800" b="1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非半自然草原を除去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FF65A9B2-D3C8-359B-635A-A20DF0FBD061}"/>
              </a:ext>
            </a:extLst>
          </p:cNvPr>
          <p:cNvSpPr/>
          <p:nvPr/>
        </p:nvSpPr>
        <p:spPr>
          <a:xfrm>
            <a:off x="5028306" y="2010176"/>
            <a:ext cx="1054994" cy="10129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800" b="1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ポリゴン化（図形化）と重ね合わせ処理を行い、</a:t>
            </a:r>
            <a:r>
              <a:rPr kumimoji="1" lang="en-US" altLang="ja-JP" sz="800" b="1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100</a:t>
            </a:r>
            <a:r>
              <a:rPr kumimoji="1" lang="ja-JP" altLang="en-US" sz="800" b="1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年の歴史を持つ草原を抽出</a:t>
            </a:r>
          </a:p>
        </p:txBody>
      </p:sp>
    </p:spTree>
    <p:extLst>
      <p:ext uri="{BB962C8B-B14F-4D97-AF65-F5344CB8AC3E}">
        <p14:creationId xmlns:p14="http://schemas.microsoft.com/office/powerpoint/2010/main" val="1118939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2BBFCD1E-654F-6521-0EB3-9CD6EF616F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5949" y="1023919"/>
            <a:ext cx="9480102" cy="4810161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199B291-91B4-718A-6F8D-3BEE8BA5D324}"/>
              </a:ext>
            </a:extLst>
          </p:cNvPr>
          <p:cNvSpPr/>
          <p:nvPr/>
        </p:nvSpPr>
        <p:spPr>
          <a:xfrm rot="16200000">
            <a:off x="2526604" y="3000585"/>
            <a:ext cx="2222349" cy="4206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面積（万</a:t>
            </a:r>
            <a:r>
              <a:rPr lang="en-US" altLang="ja-JP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ha</a:t>
            </a:r>
            <a:r>
              <a:rPr lang="ja-JP" altLang="en-US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）</a:t>
            </a:r>
            <a:endParaRPr kumimoji="1" lang="ja-JP" altLang="en-US" dirty="0">
              <a:solidFill>
                <a:schemeClr val="tx1"/>
              </a:solidFill>
              <a:latin typeface="MS UI Gothic" panose="020B0600070205080204" pitchFamily="50" charset="-128"/>
              <a:ea typeface="MS UI Gothic" panose="020B0600070205080204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D920B89-3BDE-6A75-65E1-4ABA4C3899EC}"/>
              </a:ext>
            </a:extLst>
          </p:cNvPr>
          <p:cNvSpPr/>
          <p:nvPr/>
        </p:nvSpPr>
        <p:spPr>
          <a:xfrm>
            <a:off x="5704544" y="5265683"/>
            <a:ext cx="1349151" cy="3713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時間（年</a:t>
            </a:r>
            <a:r>
              <a:rPr lang="en-US" altLang="ja-JP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)</a:t>
            </a:r>
            <a:endParaRPr kumimoji="1" lang="ja-JP" altLang="en-US" dirty="0">
              <a:solidFill>
                <a:schemeClr val="tx1"/>
              </a:solidFill>
              <a:latin typeface="MS UI Gothic" panose="020B0600070205080204" pitchFamily="50" charset="-128"/>
              <a:ea typeface="MS UI Gothic" panose="020B0600070205080204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7C0EE40-CFDC-BA00-B322-D13B5E58F065}"/>
              </a:ext>
            </a:extLst>
          </p:cNvPr>
          <p:cNvSpPr/>
          <p:nvPr/>
        </p:nvSpPr>
        <p:spPr>
          <a:xfrm>
            <a:off x="4714873" y="4268866"/>
            <a:ext cx="1952626" cy="1350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05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草原（自然草原 </a:t>
            </a:r>
            <a:r>
              <a:rPr kumimoji="1" lang="en-US" altLang="ja-JP" sz="105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+ </a:t>
            </a:r>
            <a:r>
              <a:rPr kumimoji="1" lang="ja-JP" altLang="en-US" sz="105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二次的草原）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EA355FF-715F-4CC4-E29C-5C44CC06DE42}"/>
              </a:ext>
            </a:extLst>
          </p:cNvPr>
          <p:cNvSpPr/>
          <p:nvPr/>
        </p:nvSpPr>
        <p:spPr>
          <a:xfrm>
            <a:off x="4712395" y="4457890"/>
            <a:ext cx="1197208" cy="1350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05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人工草原</a:t>
            </a:r>
            <a:endParaRPr kumimoji="1" lang="ja-JP" altLang="en-US" sz="1050" dirty="0">
              <a:solidFill>
                <a:schemeClr val="tx1"/>
              </a:solidFill>
              <a:latin typeface="MS UI Gothic" panose="020B0600070205080204" pitchFamily="50" charset="-128"/>
              <a:ea typeface="MS UI Gothic" panose="020B0600070205080204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32BA08A-A5E9-A5C2-8A08-D65F9E47468F}"/>
              </a:ext>
            </a:extLst>
          </p:cNvPr>
          <p:cNvSpPr/>
          <p:nvPr/>
        </p:nvSpPr>
        <p:spPr>
          <a:xfrm>
            <a:off x="4714874" y="4645772"/>
            <a:ext cx="1952625" cy="1350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05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100</a:t>
            </a:r>
            <a:r>
              <a:rPr kumimoji="1" lang="ja-JP" altLang="en-US" sz="105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年以上継続する半自然草原</a:t>
            </a:r>
          </a:p>
        </p:txBody>
      </p:sp>
      <p:pic>
        <p:nvPicPr>
          <p:cNvPr id="21" name="図 20">
            <a:extLst>
              <a:ext uri="{FF2B5EF4-FFF2-40B4-BE49-F238E27FC236}">
                <a16:creationId xmlns:a16="http://schemas.microsoft.com/office/drawing/2014/main" id="{A42E4163-C803-4FCA-55A6-FAAE7AEC1F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2901" y="1023919"/>
            <a:ext cx="9486198" cy="481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767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70ABBEAE-519B-7934-8CDB-C1CA40882833}"/>
              </a:ext>
            </a:extLst>
          </p:cNvPr>
          <p:cNvSpPr/>
          <p:nvPr/>
        </p:nvSpPr>
        <p:spPr>
          <a:xfrm>
            <a:off x="1305838" y="860964"/>
            <a:ext cx="9472229" cy="49699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AF3A2AD2-914E-CBAD-82D4-AE643DD03D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90" y="1142995"/>
            <a:ext cx="9144019" cy="4572009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E1F38F8-F5D5-E780-A05C-2DCC8CDB2473}"/>
              </a:ext>
            </a:extLst>
          </p:cNvPr>
          <p:cNvSpPr/>
          <p:nvPr/>
        </p:nvSpPr>
        <p:spPr>
          <a:xfrm rot="16200000">
            <a:off x="485630" y="2875629"/>
            <a:ext cx="2373066" cy="2963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草原面積（万</a:t>
            </a:r>
            <a:r>
              <a:rPr lang="en-US" altLang="ja-JP" sz="14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ha</a:t>
            </a:r>
            <a:r>
              <a:rPr lang="ja-JP" altLang="en-US" sz="14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）</a:t>
            </a:r>
            <a:endParaRPr lang="en-US" altLang="ja-JP" sz="1400" dirty="0">
              <a:solidFill>
                <a:schemeClr val="tx1"/>
              </a:solidFill>
              <a:latin typeface="MS UI Gothic" panose="020B0600070205080204" pitchFamily="50" charset="-128"/>
              <a:ea typeface="MS UI Gothic" panose="020B0600070205080204" pitchFamily="50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6417E79-4686-2368-4B89-EDC0F60B6B37}"/>
              </a:ext>
            </a:extLst>
          </p:cNvPr>
          <p:cNvSpPr/>
          <p:nvPr/>
        </p:nvSpPr>
        <p:spPr>
          <a:xfrm>
            <a:off x="4119584" y="5482936"/>
            <a:ext cx="1349151" cy="152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年</a:t>
            </a:r>
            <a:endParaRPr kumimoji="1" lang="ja-JP" altLang="en-US" sz="1400" dirty="0">
              <a:solidFill>
                <a:schemeClr val="tx1"/>
              </a:solidFill>
              <a:latin typeface="MS UI Gothic" panose="020B0600070205080204" pitchFamily="50" charset="-128"/>
              <a:ea typeface="MS UI Gothic" panose="020B0600070205080204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A1EAD65-257E-3DEF-19FF-AFCC28A3C54E}"/>
              </a:ext>
            </a:extLst>
          </p:cNvPr>
          <p:cNvSpPr/>
          <p:nvPr/>
        </p:nvSpPr>
        <p:spPr>
          <a:xfrm>
            <a:off x="7669235" y="1987550"/>
            <a:ext cx="877866" cy="2566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データソース</a:t>
            </a:r>
            <a:endParaRPr kumimoji="1" lang="ja-JP" altLang="en-US" sz="1100" dirty="0">
              <a:solidFill>
                <a:schemeClr val="tx1"/>
              </a:solidFill>
              <a:latin typeface="MS UI Gothic" panose="020B0600070205080204" pitchFamily="50" charset="-128"/>
              <a:ea typeface="MS UI Gothic" panose="020B0600070205080204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82E8795-5C90-00B4-CE32-AE62873680D4}"/>
              </a:ext>
            </a:extLst>
          </p:cNvPr>
          <p:cNvSpPr/>
          <p:nvPr/>
        </p:nvSpPr>
        <p:spPr>
          <a:xfrm>
            <a:off x="7984785" y="2683668"/>
            <a:ext cx="2014539" cy="2566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8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土地利用別面積（国土交通省）</a:t>
            </a:r>
            <a:endParaRPr kumimoji="1" lang="ja-JP" altLang="en-US" sz="800" dirty="0">
              <a:solidFill>
                <a:schemeClr val="tx1"/>
              </a:solidFill>
              <a:latin typeface="MS UI Gothic" panose="020B0600070205080204" pitchFamily="50" charset="-128"/>
              <a:ea typeface="MS UI Gothic" panose="020B060007020508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A0AB00A-F5B1-DB70-24AB-C6189ED24615}"/>
              </a:ext>
            </a:extLst>
          </p:cNvPr>
          <p:cNvSpPr/>
          <p:nvPr/>
        </p:nvSpPr>
        <p:spPr>
          <a:xfrm>
            <a:off x="7984785" y="3126304"/>
            <a:ext cx="2014539" cy="2566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8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植生図（環境省）</a:t>
            </a:r>
            <a:endParaRPr kumimoji="1" lang="ja-JP" altLang="en-US" sz="800" dirty="0">
              <a:solidFill>
                <a:schemeClr val="tx1"/>
              </a:solidFill>
              <a:latin typeface="MS UI Gothic" panose="020B0600070205080204" pitchFamily="50" charset="-128"/>
              <a:ea typeface="MS UI Gothic" panose="020B0600070205080204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56D2886-2B3F-23D8-CAED-C229E2309BC1}"/>
              </a:ext>
            </a:extLst>
          </p:cNvPr>
          <p:cNvSpPr/>
          <p:nvPr/>
        </p:nvSpPr>
        <p:spPr>
          <a:xfrm>
            <a:off x="7984785" y="3344329"/>
            <a:ext cx="2646873" cy="2566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8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植生図（環境省</a:t>
            </a:r>
            <a:r>
              <a:rPr lang="ja-JP" altLang="en-US" sz="8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、人口牧草地以外</a:t>
            </a:r>
            <a:r>
              <a:rPr lang="zh-TW" altLang="en-US" sz="8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）</a:t>
            </a:r>
            <a:endParaRPr kumimoji="1" lang="ja-JP" altLang="en-US" sz="800" dirty="0">
              <a:solidFill>
                <a:schemeClr val="tx1"/>
              </a:solidFill>
              <a:latin typeface="MS UI Gothic" panose="020B0600070205080204" pitchFamily="50" charset="-128"/>
              <a:ea typeface="MS UI Gothic" panose="020B0600070205080204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20C8D990-EAF2-D561-5076-6264ACCD8874}"/>
              </a:ext>
            </a:extLst>
          </p:cNvPr>
          <p:cNvSpPr/>
          <p:nvPr/>
        </p:nvSpPr>
        <p:spPr>
          <a:xfrm>
            <a:off x="7984785" y="3562870"/>
            <a:ext cx="2014539" cy="2566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8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小椋 </a:t>
            </a:r>
            <a:r>
              <a:rPr lang="en-US" altLang="ja-JP" sz="8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(2026)</a:t>
            </a:r>
            <a:endParaRPr kumimoji="1" lang="ja-JP" altLang="en-US" sz="800" dirty="0">
              <a:solidFill>
                <a:schemeClr val="tx1"/>
              </a:solidFill>
              <a:latin typeface="MS UI Gothic" panose="020B0600070205080204" pitchFamily="50" charset="-128"/>
              <a:ea typeface="MS UI Gothic" panose="020B0600070205080204" pitchFamily="50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8D37A02-017D-F5BC-4E48-537320CC506E}"/>
              </a:ext>
            </a:extLst>
          </p:cNvPr>
          <p:cNvSpPr/>
          <p:nvPr/>
        </p:nvSpPr>
        <p:spPr>
          <a:xfrm>
            <a:off x="7984785" y="3790192"/>
            <a:ext cx="2043117" cy="2566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8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古草原ウォッチ（草原合計）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853F40C8-9316-B3DC-9B67-4AC3CF7222BA}"/>
              </a:ext>
            </a:extLst>
          </p:cNvPr>
          <p:cNvSpPr/>
          <p:nvPr/>
        </p:nvSpPr>
        <p:spPr>
          <a:xfrm>
            <a:off x="7984785" y="2903064"/>
            <a:ext cx="2043117" cy="2566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8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土地利用データベース（</a:t>
            </a:r>
            <a:r>
              <a:rPr lang="en-US" altLang="ja-JP" sz="8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LUIS</a:t>
            </a:r>
            <a:r>
              <a:rPr lang="ja-JP" altLang="en-US" sz="8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）</a:t>
            </a:r>
            <a:endParaRPr kumimoji="1" lang="ja-JP" altLang="en-US" sz="800" dirty="0">
              <a:solidFill>
                <a:schemeClr val="tx1"/>
              </a:solidFill>
              <a:latin typeface="MS UI Gothic" panose="020B0600070205080204" pitchFamily="50" charset="-128"/>
              <a:ea typeface="MS UI Gothic" panose="020B0600070205080204" pitchFamily="50" charset="-128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6D694CFF-E5E5-9A33-EA39-CDB48E576C98}"/>
              </a:ext>
            </a:extLst>
          </p:cNvPr>
          <p:cNvSpPr/>
          <p:nvPr/>
        </p:nvSpPr>
        <p:spPr>
          <a:xfrm>
            <a:off x="7984785" y="4003637"/>
            <a:ext cx="2302215" cy="2566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8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古草原ウォッチ（人工草原以外）</a:t>
            </a:r>
            <a:endParaRPr kumimoji="1" lang="ja-JP" altLang="en-US" sz="800" dirty="0">
              <a:solidFill>
                <a:schemeClr val="tx1"/>
              </a:solidFill>
              <a:latin typeface="MS UI Gothic" panose="020B0600070205080204" pitchFamily="50" charset="-128"/>
              <a:ea typeface="MS UI Gothic" panose="020B0600070205080204" pitchFamily="50" charset="-128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351F7C03-9342-B739-6918-545420F6DB2C}"/>
              </a:ext>
            </a:extLst>
          </p:cNvPr>
          <p:cNvSpPr/>
          <p:nvPr/>
        </p:nvSpPr>
        <p:spPr>
          <a:xfrm>
            <a:off x="7984785" y="4216683"/>
            <a:ext cx="2675738" cy="2566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8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古草原ウォッチ（</a:t>
            </a:r>
            <a:r>
              <a:rPr lang="ja-JP" altLang="en-US" sz="8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継続期間</a:t>
            </a:r>
            <a:r>
              <a:rPr lang="en-US" altLang="ja-JP" sz="8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100</a:t>
            </a:r>
            <a:r>
              <a:rPr lang="ja-JP" altLang="en-US" sz="8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年以上のみ</a:t>
            </a:r>
            <a:r>
              <a:rPr kumimoji="1" lang="ja-JP" altLang="en-US" sz="8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）</a:t>
            </a:r>
          </a:p>
        </p:txBody>
      </p:sp>
      <p:pic>
        <p:nvPicPr>
          <p:cNvPr id="40" name="図 39">
            <a:extLst>
              <a:ext uri="{FF2B5EF4-FFF2-40B4-BE49-F238E27FC236}">
                <a16:creationId xmlns:a16="http://schemas.microsoft.com/office/drawing/2014/main" id="{2BDA69D1-A0D8-5293-E073-9C864ECE7D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7507" y="1112319"/>
            <a:ext cx="9156986" cy="4633362"/>
          </a:xfrm>
          <a:prstGeom prst="rect">
            <a:avLst/>
          </a:prstGeom>
        </p:spPr>
      </p:pic>
      <p:pic>
        <p:nvPicPr>
          <p:cNvPr id="72" name="図 71">
            <a:extLst>
              <a:ext uri="{FF2B5EF4-FFF2-40B4-BE49-F238E27FC236}">
                <a16:creationId xmlns:a16="http://schemas.microsoft.com/office/drawing/2014/main" id="{43CA7DB2-E766-A56A-353E-D08D3F937F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8997" y="941616"/>
            <a:ext cx="9474005" cy="4974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835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67CD2D3A-9525-2DF8-C109-472BD5050AE1}"/>
              </a:ext>
            </a:extLst>
          </p:cNvPr>
          <p:cNvSpPr/>
          <p:nvPr/>
        </p:nvSpPr>
        <p:spPr>
          <a:xfrm>
            <a:off x="626537" y="1422400"/>
            <a:ext cx="8475130" cy="49699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5B2A4DEC-2CE3-4B23-EB2E-610E8F8C33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79"/>
          <a:stretch>
            <a:fillRect/>
          </a:stretch>
        </p:blipFill>
        <p:spPr>
          <a:xfrm>
            <a:off x="745058" y="1655491"/>
            <a:ext cx="8240662" cy="4572009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A95DF7F-6C53-4248-620E-4B55B1B016B4}"/>
              </a:ext>
            </a:extLst>
          </p:cNvPr>
          <p:cNvSpPr/>
          <p:nvPr/>
        </p:nvSpPr>
        <p:spPr>
          <a:xfrm>
            <a:off x="6658630" y="3172342"/>
            <a:ext cx="877866" cy="2566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データソース</a:t>
            </a:r>
            <a:endParaRPr kumimoji="1" lang="ja-JP" altLang="en-US" sz="1100" dirty="0">
              <a:solidFill>
                <a:schemeClr val="tx1"/>
              </a:solidFill>
              <a:latin typeface="MS UI Gothic" panose="020B0600070205080204" pitchFamily="50" charset="-128"/>
              <a:ea typeface="MS UI Gothic" panose="020B0600070205080204" pitchFamily="50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69452CE-0D84-B213-D73C-5F8A5094B994}"/>
              </a:ext>
            </a:extLst>
          </p:cNvPr>
          <p:cNvSpPr/>
          <p:nvPr/>
        </p:nvSpPr>
        <p:spPr>
          <a:xfrm>
            <a:off x="6971180" y="3422649"/>
            <a:ext cx="2014539" cy="2566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8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作物統計調査（農林水産省）</a:t>
            </a:r>
            <a:endParaRPr kumimoji="1" lang="ja-JP" altLang="en-US" sz="800" dirty="0">
              <a:solidFill>
                <a:schemeClr val="tx1"/>
              </a:solidFill>
              <a:latin typeface="MS UI Gothic" panose="020B0600070205080204" pitchFamily="50" charset="-128"/>
              <a:ea typeface="MS UI Gothic" panose="020B0600070205080204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69B6DB2-88BC-B6A9-98A9-BB3CD59C3929}"/>
              </a:ext>
            </a:extLst>
          </p:cNvPr>
          <p:cNvSpPr/>
          <p:nvPr/>
        </p:nvSpPr>
        <p:spPr>
          <a:xfrm>
            <a:off x="6971180" y="3635332"/>
            <a:ext cx="2014539" cy="2191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8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公共牧場・放牧の現状（農林水産省）</a:t>
            </a:r>
            <a:endParaRPr kumimoji="1" lang="ja-JP" altLang="en-US" sz="800" dirty="0">
              <a:solidFill>
                <a:schemeClr val="tx1"/>
              </a:solidFill>
              <a:latin typeface="MS UI Gothic" panose="020B0600070205080204" pitchFamily="50" charset="-128"/>
              <a:ea typeface="MS UI Gothic" panose="020B0600070205080204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4993969-C48A-51FE-DAA9-603D9D19E3F3}"/>
              </a:ext>
            </a:extLst>
          </p:cNvPr>
          <p:cNvSpPr/>
          <p:nvPr/>
        </p:nvSpPr>
        <p:spPr>
          <a:xfrm>
            <a:off x="6971180" y="3854525"/>
            <a:ext cx="2014539" cy="2566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8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植生図（環境省）</a:t>
            </a:r>
            <a:endParaRPr kumimoji="1" lang="ja-JP" altLang="en-US" sz="800" dirty="0">
              <a:solidFill>
                <a:schemeClr val="tx1"/>
              </a:solidFill>
              <a:latin typeface="MS UI Gothic" panose="020B0600070205080204" pitchFamily="50" charset="-128"/>
              <a:ea typeface="MS UI Gothic" panose="020B060007020508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0C65822-C128-5091-F305-FB064EABA15A}"/>
              </a:ext>
            </a:extLst>
          </p:cNvPr>
          <p:cNvSpPr/>
          <p:nvPr/>
        </p:nvSpPr>
        <p:spPr>
          <a:xfrm>
            <a:off x="6971180" y="4072644"/>
            <a:ext cx="2014539" cy="2566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8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古草原ウォッチ</a:t>
            </a:r>
            <a:endParaRPr kumimoji="1" lang="ja-JP" altLang="en-US" sz="800" dirty="0">
              <a:solidFill>
                <a:schemeClr val="tx1"/>
              </a:solidFill>
              <a:latin typeface="MS UI Gothic" panose="020B0600070205080204" pitchFamily="50" charset="-128"/>
              <a:ea typeface="MS UI Gothic" panose="020B0600070205080204" pitchFamily="50" charset="-128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2DE756C0-3CB5-4971-FE66-66DB24AABD52}"/>
              </a:ext>
            </a:extLst>
          </p:cNvPr>
          <p:cNvSpPr/>
          <p:nvPr/>
        </p:nvSpPr>
        <p:spPr>
          <a:xfrm rot="16200000">
            <a:off x="-385385" y="3595297"/>
            <a:ext cx="2373066" cy="2963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草原面積（万</a:t>
            </a:r>
            <a:r>
              <a:rPr lang="en-US" altLang="ja-JP" sz="14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ha</a:t>
            </a:r>
            <a:r>
              <a:rPr lang="ja-JP" altLang="en-US" sz="14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）</a:t>
            </a:r>
            <a:endParaRPr lang="en-US" altLang="ja-JP" sz="1400" dirty="0">
              <a:solidFill>
                <a:schemeClr val="tx1"/>
              </a:solidFill>
              <a:latin typeface="MS UI Gothic" panose="020B0600070205080204" pitchFamily="50" charset="-128"/>
              <a:ea typeface="MS UI Gothic" panose="020B0600070205080204" pitchFamily="50" charset="-128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39AB9AC8-80AF-1135-98DB-779749978D89}"/>
              </a:ext>
            </a:extLst>
          </p:cNvPr>
          <p:cNvSpPr/>
          <p:nvPr/>
        </p:nvSpPr>
        <p:spPr>
          <a:xfrm>
            <a:off x="3248569" y="5990936"/>
            <a:ext cx="1349151" cy="152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年</a:t>
            </a:r>
            <a:endParaRPr kumimoji="1" lang="ja-JP" altLang="en-US" sz="1400" dirty="0">
              <a:solidFill>
                <a:schemeClr val="tx1"/>
              </a:solidFill>
              <a:latin typeface="MS UI Gothic" panose="020B0600070205080204" pitchFamily="50" charset="-128"/>
              <a:ea typeface="MS UI Gothic" panose="020B0600070205080204" pitchFamily="50" charset="-128"/>
            </a:endParaRPr>
          </a:p>
        </p:txBody>
      </p:sp>
      <p:pic>
        <p:nvPicPr>
          <p:cNvPr id="52" name="図 51">
            <a:extLst>
              <a:ext uri="{FF2B5EF4-FFF2-40B4-BE49-F238E27FC236}">
                <a16:creationId xmlns:a16="http://schemas.microsoft.com/office/drawing/2014/main" id="{19086C08-9B34-0750-0CEA-FD9BED4B12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8913" y="941616"/>
            <a:ext cx="8474174" cy="4974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7816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</TotalTime>
  <Words>230</Words>
  <Application>Microsoft Office PowerPoint</Application>
  <PresentationFormat>ワイド画面</PresentationFormat>
  <Paragraphs>48</Paragraphs>
  <Slides>5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0" baseType="lpstr">
      <vt:lpstr>MS UI Gothic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Chisa Higuchi</dc:creator>
  <cp:lastModifiedBy>Shogo Ikari</cp:lastModifiedBy>
  <cp:revision>12</cp:revision>
  <dcterms:created xsi:type="dcterms:W3CDTF">2026-06-01T00:51:46Z</dcterms:created>
  <dcterms:modified xsi:type="dcterms:W3CDTF">2026-07-18T13:13:54Z</dcterms:modified>
</cp:coreProperties>
</file>